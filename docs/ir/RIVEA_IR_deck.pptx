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줄로 대비 구조를 만든다 — 화장 vs 노화. 데모 링크를 여기서 미리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브랜드몰은 자기 제품만 설명하고, 종합몰은 카테고리별로 더 많이 파는 게 유리하다.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여러 브랜드가 한 바구니에 섞이니 조합이 보인다 — 중개형이라 가능한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2019년 식약처 LED 마스크 48품목 시정명령도 근거로 쓸 수 있지만, 최신 조사가 앞에 오는 게 낫다.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장기 스케일업은 화장품 시장 전체(25조)다. 기기 6,800억만 TAM으로 잡으면 천장을 스스로 낮춘다. 47곳 이야기는 시장을 나누는 게 아니라 만드는 논리 — 심사에서 잘 먹힌다.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공급측(브랜드 입점)을 계산했다는 걸 보여주는 슬라이드. 광고를 파는 것과 판정을 파는 것을 구분한 게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1인 팀은 숨기는 게 최악. 만든 것과 뽑을 자리를 같이 보여주면 Ask로 자연스럽게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3.5억은 추산. 대표 급여와 채용 시점이 바뀌면 숫자가 바뀐다 — 산출 근거 줄이 방어선이다. 월 50대는 업소용 제조사가 개발비를 회수할 그림이 보이는 최소선(대당 20만원 × 연 500~1,000대).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A48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-1463040"/>
            <a:ext cx="6583680" cy="6583680"/>
          </a:xfrm>
          <a:prstGeom prst="ellipse">
            <a:avLst/>
          </a:prstGeom>
          <a:solidFill>
            <a:srgbClr val="5C5B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480560"/>
            <a:ext cx="3108960" cy="3108960"/>
          </a:xfrm>
          <a:prstGeom prst="ellipse">
            <a:avLst/>
          </a:prstGeom>
          <a:solidFill>
            <a:srgbClr val="E7DC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600" kern="0" dirty="0">
                <a:solidFill>
                  <a:srgbClr val="E7DCC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 I V E 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19456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화장이 아니라</a:t>
            </a:r>
            <a:endParaRPr lang="en-US" sz="46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노화를 다룹니다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6E9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40대 이상 여성을 위한 홈케어 중개 마켓플레이스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6E9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기기와 화장품을 성분·가격으로 함께 놓고, 하나의 루틴으로 묶습니다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5394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8B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발표자 · 소속 (채워주세요)  ·  2026.08  ·  rivea-app.web.app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기존 뷰티 커머스는 「화장」을 팔도록 만들어져 있습니다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64240" y="4572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40대가 넘으면 지출의 이유가 바뀝니다. 예뻐 보이려고가 아니라 노화를 관리하려고 씁니다.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60604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06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16736" y="26334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대상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310896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고민이 화장이 아니라 노화다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14400" y="388620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검색하는 건 색상이나 트렌드가 아니라 증상입니다.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89120" y="233172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260604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2606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65776" y="26334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비교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63440" y="310896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기기와 화장품을 함께 볼 수 없다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63440" y="388620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늘 다른 카테고리에 있어 성분과 가격을 견줄 수 없습니다.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138160" y="233172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12480" y="260604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2606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814816" y="26334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412480" y="310896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하나의 루틴으로 묶어주지 않는다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412480" y="388620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따로 산 둘을 어떤 순서로 쓰는지 아무도 알려주지 않습니다.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4892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문제의 뿌리는 하나입니다 — 상품 단위로 파는 구조는 조합을 말할 수 없습니다.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노화 고민에서 출발해 기기와 화장품을 한 루틴으로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64240" y="4572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3832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28600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16736" y="23134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고민이 곧 진입점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27889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고민 7개로 들어옵니다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14400" y="3566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메이크업 카테고리는 없습니다. 진열 구조가 노화 관리에 맞춰져 있습니다.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89120" y="2011680"/>
            <a:ext cx="33832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28600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65776" y="23134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성분과 가격을 같은 축에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63440" y="27889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기기는 작동 방식, 화장품은 성분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663440" y="3566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고민 아래 놓고 견주게 합니다.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38160" y="2011680"/>
            <a:ext cx="33832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0" y="228600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1248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814816" y="23134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순서까지 짜서 준다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412480" y="27889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아침 5단계 · 저녁 4단계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412480" y="3566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기기는 작동 방식대로 자기 자리에. LED는 바르기 전, 갈바닉은 바른 후.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438912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2688" y="4572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여기서 더 나온 것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32688" y="4937760"/>
            <a:ext cx="10296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성분 병용 안내 — 레티놀과 산은 나눠 쓰기 (규칙 9개)   ·   다 쓸 때쯤 — 받은 날과 용량으로 재구매 시점   ·   내 화장대 — 갖고 있는 건 살 목록에서 빼기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MARKET 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40대가 최대 구매층이고, 이들은 브랜드보다 성분을 봅니다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64240" y="4572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전자신문·리멤버 조사 (2025.09, 성인 1,054명)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33832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395728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4A48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41.7%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14400" y="303580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K뷰티 구매층 중 40대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338328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30대 28.0% · 50대 26.6%. 40·50대 합쳐 68.3% — 주변부가 아니라 본진입니다.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89120" y="2194560"/>
            <a:ext cx="33832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2395728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4A48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30.4%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663440" y="303580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제품 선택 1순위 = 성분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63440" y="338328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브랜드 신뢰도 28.4% · 가격 17.8%보다 앞섭니다. 성분이 브랜드를 이깁니다.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38160" y="2194560"/>
            <a:ext cx="33832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0" y="2395728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4A48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68.7%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412480" y="303580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구매 품목 = 기초 스킨케어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412480" y="338328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화장품을 사치품이 아니라 기본 관리용 기능성 제품으로 봅니다.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526280"/>
            <a:ext cx="10881360" cy="1188720"/>
          </a:xfrm>
          <a:prstGeom prst="roundRect">
            <a:avLst>
              <a:gd name="adj" fmla="val 9231"/>
            </a:avLst>
          </a:prstGeom>
          <a:solidFill>
            <a:srgbClr val="FBF4E6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4681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887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검증 — 채워야 하는 칸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2688" y="4992624"/>
            <a:ext cx="10296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「성분을 본다」와 「성분 조합을 안다」는 다릅니다. 레티놀과 산을 같이 쓰면 안 되는 걸 아는지는 이 조사로 알 수 없고, 오히려 모를 가능성이 큽니다 — 그게 우리 기회입니다. 40대+ N명 인터뷰로 채워야 하는 칸입니다.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59893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출처: 전자신문 2025.09.26 (리멤버 조사, 성인 1,054명)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MARKET SIZE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 규모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64240" y="4572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234440" y="1828800"/>
            <a:ext cx="3749040" cy="3749040"/>
          </a:xfrm>
          <a:prstGeom prst="ellipse">
            <a:avLst/>
          </a:prstGeom>
          <a:solidFill>
            <a:srgbClr val="E7DC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10512" y="2807208"/>
            <a:ext cx="2596896" cy="2596896"/>
          </a:xfrm>
          <a:prstGeom prst="ellipse">
            <a:avLst/>
          </a:prstGeom>
          <a:solidFill>
            <a:srgbClr val="9AA8B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77440" y="3886200"/>
            <a:ext cx="1463040" cy="1463040"/>
          </a:xfrm>
          <a:prstGeom prst="ellipse">
            <a:avLst/>
          </a:prstGeom>
          <a:solidFill>
            <a:srgbClr val="4A48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37360" y="2011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TAM  약 25조원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9718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SAM  약 12조원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468880" y="40325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SOM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68880" y="42793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6E9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 필요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0" y="1965960"/>
            <a:ext cx="6035040" cy="969264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42432" y="20848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TAM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742432" y="2304288"/>
            <a:ext cx="5522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국내 화장품 시장 · 약 25조원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742432" y="2569464"/>
            <a:ext cx="552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USD 18.39B (2025) · 환율 1,400원 가정. 뷰티 기기 6,800억은 이 안의 조각입니다.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0" y="3008376"/>
            <a:ext cx="6035040" cy="969264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42432" y="312724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SAM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742432" y="3346704"/>
            <a:ext cx="5522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스킨케어 · 선케어 · 약 12조원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5742432" y="3611880"/>
            <a:ext cx="552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제품 유형 중 46.8% — 노화 관리가 일어나는 카테고리입니다.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0" y="4050792"/>
            <a:ext cx="6035040" cy="969264"/>
          </a:xfrm>
          <a:prstGeom prst="roundRect">
            <a:avLst>
              <a:gd name="adj" fmla="val 11321"/>
            </a:avLst>
          </a:prstGeom>
          <a:solidFill>
            <a:srgbClr val="FBF4E6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42432" y="416966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B887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SOM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742432" y="4389120"/>
            <a:ext cx="5522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40~50대 여성 × 침투율 (확인 필요)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5742432" y="4654296"/>
            <a:ext cx="552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인구는 KOSIS, 침투율은 비교 사례와 함께 확정합니다.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0" y="5029200"/>
            <a:ext cx="6035040" cy="960120"/>
          </a:xfrm>
          <a:prstGeom prst="roundRect">
            <a:avLst>
              <a:gd name="adj" fmla="val 11429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42432" y="5175504"/>
            <a:ext cx="5522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시장은 우리가 만들 수도 있습니다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742432" y="5449824"/>
            <a:ext cx="5522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업소용 피부관리기를 만드는 국내 업체 47곳 중 가정용 인증을 받은 곳은 0곳입니다. 기술이 없어서가 아니라 팔 채널이 없어서입니다.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40080" y="6126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동심원은 지름으로만 위계를 표시했습니다 — SAM 확정 전 면적 비례는 비율을 지어내는 것과 같습니다.   출처: Expert Market Research · 국가기술표준원 안전확인 신고 (2026.08.03 조회)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지금 작동하는 앱입니다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64240" y="4572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목업이 아니라 배포된 웹앱입니다. 아래는 저장소에서 센 값입니다.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2480310" cy="1554480"/>
          </a:xfrm>
          <a:prstGeom prst="roundRect">
            <a:avLst>
              <a:gd name="adj" fmla="val 7059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2450592"/>
            <a:ext cx="20048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48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 + 23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77824" y="2980944"/>
            <a:ext cx="20048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기기 + 화장품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77824" y="3273552"/>
            <a:ext cx="20048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실존 25 · 브랜드 18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40430" y="2286000"/>
            <a:ext cx="2480310" cy="1554480"/>
          </a:xfrm>
          <a:prstGeom prst="roundRect">
            <a:avLst>
              <a:gd name="adj" fmla="val 7059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78174" y="2450592"/>
            <a:ext cx="20048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48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 / 10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678174" y="2980944"/>
            <a:ext cx="20048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기기+화장품 루틴 세트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78174" y="3273552"/>
            <a:ext cx="20048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작동 방식대로 기기 자리 배치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40780" y="2286000"/>
            <a:ext cx="2480310" cy="1554480"/>
          </a:xfrm>
          <a:prstGeom prst="roundRect">
            <a:avLst>
              <a:gd name="adj" fmla="val 7059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8524" y="2450592"/>
            <a:ext cx="20048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48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478524" y="2980944"/>
            <a:ext cx="20048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성분 병용 규칙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78524" y="3273552"/>
            <a:ext cx="20048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기기 배치 규칙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041130" y="2286000"/>
            <a:ext cx="2480310" cy="1554480"/>
          </a:xfrm>
          <a:prstGeom prst="roundRect">
            <a:avLst>
              <a:gd name="adj" fmla="val 7059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78874" y="2450592"/>
            <a:ext cx="20048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48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9278874" y="2980944"/>
            <a:ext cx="20048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278874" y="3273552"/>
            <a:ext cx="20048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커밋 43 · 12,560줄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4023360"/>
            <a:ext cx="525780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20624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닫힌 여정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14400" y="457200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노화 고민 → 루틴 처방(기기 자리 포함) → 담기 → 결제 → 배송 추적 → 리뷰 → 재구매까지 끊기는 곳 없이 이어집니다.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263640" y="4023360"/>
            <a:ext cx="525780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37960" y="420624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규제선을 지킨 카피 체계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537960" y="457200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미백·주름개선은 기능성화장품 표시라 심사 품목만 씁니다. 성분은 「어디서 작용한다」로만 적고, 기기에는 효능을 붙이지 않습니다.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" y="58064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데모: rivea-app.web.app — PWA로 홈 화면 설치 가능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수수료가 주력, 광고가 따라옵니다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64240" y="4572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38328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103120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판매 수수료 — 매출의 70~80%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96112" y="24871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화장품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77440" y="24871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8~10%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96112" y="29443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377440" y="29443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12~15%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96112" y="34015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첫 3개월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377440" y="34015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96112" y="3913632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기기는 단가가 10~100만원이라 수수료율이 낮아도 절대 금액이 큽니다. 화장품이 재구매를, 기기가 객단가를 만듭니다.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9120" y="1920240"/>
            <a:ext cx="338328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45152" y="2103120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광고 — 지면은 이미 있습니다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45152" y="2468880"/>
            <a:ext cx="28163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히어로 캐러셀 (가장 비싼 자리)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고민별 화면 상단 — 타깃이 선명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리베아's Pick 안의 스폰서 자리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매거진 협찬 콘텐츠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913632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트래픽 0에서는 CPM으로 못 팝니다. 성과형(수수료 +3~5%)으로 시작해 전환율을 쌓고, 그 데이터로 정액 단가를 매깁니다.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38160" y="1920240"/>
            <a:ext cx="3383280" cy="2926080"/>
          </a:xfrm>
          <a:prstGeom prst="roundRect">
            <a:avLst>
              <a:gd name="adj" fmla="val 3750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94192" y="2103120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팔지 않는 것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394192" y="2468880"/>
            <a:ext cx="28712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광고는 「무엇을 먼저 보여줄지」를 팝니다.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「무엇이 사실인지」는 팔지 않습니다.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394192" y="3611880"/>
            <a:ext cx="2871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병용 안내와 루틴의 자리 판정은 광고와 분리합니다. 돈을 낸 브랜드가 세럼 자리를 차지하면 루틴이 광고 목록이 되고, 그러면 우리가 파는 게 없어집니다. 스폰서 카드에는 「광고」를 명확히 표시합니다.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5029200"/>
            <a:ext cx="10881360" cy="960120"/>
          </a:xfrm>
          <a:prstGeom prst="roundRect">
            <a:avLst>
              <a:gd name="adj" fmla="val 11429"/>
            </a:avLst>
          </a:prstGeom>
          <a:solidFill>
            <a:srgbClr val="FBF4E6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5175504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월 비용 환산과 효과 기록은 넣지 않습니다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914400" y="546811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사용자에게 유용하지만 입점 브랜드에게는 위험한 지표이고, 브랜드가 들어오지 않으면 중개형 자체가 성립하지 않습니다. 대신 「내 화장대」는 넣었습니다 — 살 것이 줄지만 브랜드에게는 「중복 구매를 막아줬다」로 읽힙니다. 양쪽이 다 이기는 칸에만 손을 댑니다.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7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단가 · CAC · LTV 가정표 (확인 필요)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MARKET ADOPTION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어떻게 쓰게 만드나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64240" y="4572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2039112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노화 고민으로 들어온다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88720" y="23317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「세럼」이 아니라 「기미·잡티」로. 그 화면에 기기와 화장품이 함께 놓입니다.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2953512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880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루틴을 받는다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88720" y="32461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고민 3개 → 아침·저녁 순서. 여기서 처음으로 「이 앱이 나를 안다」가 생깁니다.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3867912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867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88720" y="37947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화장대를 등록한다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41605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살 것이 줄어듭니다. 덜 팔린 첫 경험이 재방문의 이유가 됩니다.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" y="4782312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88720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 쓸 때쯤 돌아온다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88720" y="50749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리텐션이 광고가 아니라 제품 사용 주기에서 나옵니다.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40080" y="557784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576072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도달은 네이버 검색·카페가 주력입니다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14400" y="59893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세대는 「기미 없애는 방법」을 네이버에 칩니다. 인스타·틱톡 중심으로 짜면 돈만 씁니다. 콘텐츠 재료는 병용 규칙 9개가 그대로 글감 9편입니다 — 마케팅과 제품이 같은 재료를 씁니다.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COMPETITION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경쟁 구도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64240" y="4572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비교 축은 우리가 정의한 세 문제 그대로입니다 — 노화 중심 / 통합 비교 / 루틴.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108813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645920"/>
                <a:gridCol w="1280160"/>
                <a:gridCol w="1737360"/>
                <a:gridCol w="1645920"/>
                <a:gridCol w="192024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노화 중심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진열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취급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기기·화장품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통합 비교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루틴으로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묶기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40대+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접근성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624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RIVEA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624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●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624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●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624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◐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624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●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624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●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D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올리브영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●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화해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브랜드 공식몰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지그재그 · 에이블리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기기 전문몰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●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029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● 있음 · ◐ 부분 구현 · △ 부분적 · ○ 없음    ◐ 기기끼리 비교표는 돌아가고, 기기↔화장품 교차 비교가 다음 단계입니다.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40080" y="5394960"/>
            <a:ext cx="10881360" cy="1005840"/>
          </a:xfrm>
          <a:prstGeom prst="roundRect">
            <a:avLst>
              <a:gd name="adj" fmla="val 10909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553212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「통합 비교」와 「루틴」 열이 전부 비어 있는 이유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14400" y="5833872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능력이 아니라 구조입니다. 브랜드몰은 남의 제품과의 조합을 말할 수 없고, 종합몰은 「기기 하나로 되니 화장품은 줄이세요」를 말할 이유가 없습니다.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COMPETITIVE ADVANTAGES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 우리가 할 수 있나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64240" y="4572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28600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16736" y="23134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27889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기기와 화장품을 다 파니 묶을 수 있다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14400" y="356616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중개형이라 한 바구니에 여러 브랜드의 기기와 화장품이 함께 담깁니다. 흉내가 아니라 사업 모델에서 나옵니다.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89120" y="201168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28600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65776" y="23134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63440" y="27889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이기는 브랜드가 없어도 된다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663440" y="356616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특정 브랜드를 밀 이유가 없어 중립적인 안내가 곧 우리 이익입니다. 브랜드몰은 구조적으로 이 말을 못 합니다.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38160" y="201168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0" y="228600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1248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814816" y="23134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규율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412480" y="27889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표현의 선을 지킨 체계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412480" y="356616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기능성화장품·기기 효능 표시를 피하는 규칙이 코드에 박혀 있습니다. 모르고 만든 서비스는 규모가 커질 때 한 번에 걸립니다.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4892040"/>
            <a:ext cx="10881360" cy="1097280"/>
          </a:xfrm>
          <a:prstGeom prst="roundRect">
            <a:avLst>
              <a:gd name="adj" fmla="val 10000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504748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규칙 엔진이 자산이 되는 구조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14400" y="536752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성분 · 기기 작동 방식 · 단계 · 시간대 · 사용기간을 구조화해 갖고 있어, 상품이 늘어날수록 규칙이 잡아내는 조합이 늘어납니다. 카탈로그 확장이 곧 안내 품질의 확장입니다.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팀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64240" y="4572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현재 1인입니다. 숨기지 않고, 혼자 어디까지 왔는지와 누구를 뽑을지를 같이 놓습니다.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4846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2423160"/>
            <a:ext cx="1005840" cy="1005840"/>
          </a:xfrm>
          <a:prstGeom prst="ellipse">
            <a:avLst/>
          </a:prstGeom>
          <a:solidFill>
            <a:srgbClr val="E6E9F0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3611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FOUNDER · 1인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9136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7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이름 (채워주세요)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05840" y="437083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기획 · 디자인 · 개발을 혼자 했습니다.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커밋 43개 · 12,560줄 · 배포된 웹앱.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005840" y="51206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「이 문제를 왜 내가 푸는지」 한 문장을 여기 넣으세요 — 1인 팀에서 이 문장이 팀 슬라이드 전체를 대신합니다.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852160" y="2103120"/>
            <a:ext cx="5669280" cy="1600200"/>
          </a:xfrm>
          <a:prstGeom prst="roundRect">
            <a:avLst>
              <a:gd name="adj" fmla="val 6857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44768" y="2286000"/>
            <a:ext cx="5084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1인이 약점이 아닌 이유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144768" y="2633472"/>
            <a:ext cx="50840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초기 팀의 가장 큰 위험은 사람이 적은 게 아니라 만든 게 없는 것입니다. 기획부터 배포까지 한 사람 안에서 돌았기 때문에 의사결정에 전달 손실이 없고, 지금 바로 열리는 링크가 그 증거입니다.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886200"/>
            <a:ext cx="566928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44768" y="4069080"/>
            <a:ext cx="5084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투자금으로 채울 자리 (18개월)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44768" y="4434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 브랜드 입점 · MD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58200" y="4434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카탈로그를 늘리는 사람. 규칙 엔진은 상품이 늘수록 강해집니다.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44768" y="5001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 프론트엔드 개발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458200" y="500176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제가 제품 방향에 시간을 쓸 수 있게 되는 자리.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A48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3840480"/>
            <a:ext cx="5486400" cy="5486400"/>
          </a:xfrm>
          <a:prstGeom prst="ellipse">
            <a:avLst/>
          </a:prstGeom>
          <a:solidFill>
            <a:srgbClr val="5C5B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7DCC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3.5억원 · 18개월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6E9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18개월은 「만들 시간」이 아니라 재구매율이 나오는 데 걸리는 시간입니다 — 화장품 한 통이 두 달이고, 이 세대의 구매 주기가 분기 1회(51.4%)라 최소 2~3회전이 필요합니다.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057400"/>
            <a:ext cx="530352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3113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사용처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25603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인건비 2인 · 18개월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023360" y="2560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2.0억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37760" y="256032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58%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14400" y="29809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브랜드 입점 · 상품 데이터 구축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023360" y="298094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0.4억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937760" y="298094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11%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14400" y="34015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초기 유저 확보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023360" y="34015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0.5억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937760" y="340156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14%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14400" y="38221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서버 · 법률 · 회계 · 툴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023360" y="382219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0.2억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937760" y="382219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6%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14400" y="42428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예비비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023360" y="424281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0.4억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937760" y="4242816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11%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14400" y="47000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합계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023360" y="46725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3.5억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309360" y="2057400"/>
            <a:ext cx="521208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83680" y="22311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돈으로 검증할 가설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0" y="26060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6개월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498080" y="25877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브랜드가 들어오는가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498080" y="2871216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입점 20개 · 상품 300개. 통합 비교가 성립할 최소 밀도.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583680" y="34107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12개월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498080" y="339242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루틴이 구매로 이어지는가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498080" y="36758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루틴 → 담기 전환율. 이 앱의 존재 이유가 여기서 증명됩니다.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583680" y="421538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18개월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498080" y="41970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다시 사는가 · 기기가 월 50대 넘는가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498080" y="448056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재구매율 + 기기 판매량. 월 50대가 넘으면 업소용 제조사에 가정용 단독 모델을 요청할 수 있습니다.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40080" y="5257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AA8B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산출 근거: 개발 1인 4,500만 + MD 1인 4,000만 + 대표 최소급여 3,000만 · 18개월 · 4대보험·퇴직 포함(×1.2). 정부지원(예비창업패키지 · TIPS)을 병행하면 같은 지분으로 런웨이를 늘릴 수 있습니다.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40080" y="59893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DCC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rivea-app.web.app — 회원가입 없이 둘러보기, 고민 설정 후 「내 루틴」까지    ·    초안 2026.08 · 금색 글씨는 채워야 할 자리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RIVEA IR Deck (초안)</dc:title>
  <dc:subject>PptxGenJS Presentation</dc:subject>
  <dc:creator>RIVEA</dc:creator>
  <cp:lastModifiedBy>RIVEA</cp:lastModifiedBy>
  <cp:revision>1</cp:revision>
  <dcterms:created xsi:type="dcterms:W3CDTF">2026-08-05T05:23:23Z</dcterms:created>
  <dcterms:modified xsi:type="dcterms:W3CDTF">2026-08-05T05:23:23Z</dcterms:modified>
</cp:coreProperties>
</file>