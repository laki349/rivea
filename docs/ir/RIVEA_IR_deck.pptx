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한 줄로 대비 구조를 만든다 — 화장 vs 노화. 데모 링크를 여기서 미리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브랜드몰은 자기 제품만 설명하고, 종합몰은 카테고리별로 더 많이 파는 게 유리하다.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여러 브랜드가 한 바구니에 섞이니 조합이 보인다 — 중개형이라 가능한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장기 스케일업은 화장품 시장 전체(25조)다. 기기 1.1조만 TAM으로 잡으면 천장을 스스로 낮추는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공급측(브랜드 입점)을 계산했다는 걸 보여주는 슬라이드. 소비자 편익만 좇지 않았다.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1인 팀은 숨기는 게 최악. 만든 것과 뽑을 자리를 같이 보여주면 Ask 슬라이드로 자연스럽게 넘어간다.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3.5억은 추산이다. 대표 급여와 채용 시점이 바뀌면 숫자가 바뀐다 — 산출 근거 줄이 방어선이다.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48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1463040"/>
            <a:ext cx="6583680" cy="6583680"/>
          </a:xfrm>
          <a:prstGeom prst="ellipse">
            <a:avLst/>
          </a:prstGeom>
          <a:solidFill>
            <a:srgbClr val="5C5B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4480560"/>
            <a:ext cx="3108960" cy="3108960"/>
          </a:xfrm>
          <a:prstGeom prst="ellipse">
            <a:avLst/>
          </a:prstGeom>
          <a:solidFill>
            <a:srgbClr val="E7DC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E7DCC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 I V E 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화장이 아니라</a:t>
            </a:r>
            <a:endParaRPr lang="en-US" sz="46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노화를 다룹니다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6E9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40대 이상 여성을 위한 홈케어 중개 마켓플레이스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6E9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기기와 화장품을 성분·가격으로 함께 놓고, 하나의 루틴으로 묶습니다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394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B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발표자 · 소속 (채워주세요)  ·  2026.08  ·  rivea-app.web.app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5A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 뷰티 커머스는 「화장」을 팔도록 만들어져 있습니다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64240" y="4572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B798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40대가 넘으면 지출의 이유가 바뀝니다. 예뻐 보이려고가 아니라 노화를 관리하려고 씁니다.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4EFE7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606040"/>
            <a:ext cx="310896" cy="310896"/>
          </a:xfrm>
          <a:prstGeom prst="ellipse">
            <a:avLst/>
          </a:prstGeom>
          <a:solidFill>
            <a:srgbClr val="4A48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606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3312" y="2624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A5A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3108960"/>
            <a:ext cx="2798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고민이 화장이 아니라 노화다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2688" y="3840480"/>
            <a:ext cx="2798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검색하는 건 색상이나 트렌드가 아니라 증상입니다.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233172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4EFE7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81728" y="2606040"/>
            <a:ext cx="310896" cy="310896"/>
          </a:xfrm>
          <a:prstGeom prst="ellipse">
            <a:avLst/>
          </a:prstGeom>
          <a:solidFill>
            <a:srgbClr val="4A48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2606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02352" y="2624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A5A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비교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81728" y="3108960"/>
            <a:ext cx="2798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기기와 화장품을 함께 볼 수 없다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81728" y="3840480"/>
            <a:ext cx="2798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늘 다른 카테고리에 있어 성분과 가격을 견줄 수 없습니다.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38160" y="233172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4EFE7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0768" y="2606040"/>
            <a:ext cx="310896" cy="310896"/>
          </a:xfrm>
          <a:prstGeom prst="ellipse">
            <a:avLst/>
          </a:prstGeom>
          <a:solidFill>
            <a:srgbClr val="4A48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30768" y="2606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851392" y="2624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A5A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30768" y="3108960"/>
            <a:ext cx="2798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하나의 루틴으로 묶어주지 않는다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430768" y="3840480"/>
            <a:ext cx="2798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따로 산 둘을 어떤 순서로 쓰는지 아무도 알려주지 않습니다.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4892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 문제의 뿌리는 하나입니다 — 상품 단위로 파는 구조는 조합을 말할 수 없습니다.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5A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노화 고민에서 출발해 기기와 화장품을 한 루틴으로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64240" y="4572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B798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3832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286000"/>
            <a:ext cx="310896" cy="310896"/>
          </a:xfrm>
          <a:prstGeom prst="ellipse">
            <a:avLst/>
          </a:prstGeom>
          <a:solidFill>
            <a:srgbClr val="4A48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2743200"/>
            <a:ext cx="2798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고민이 곧 진입점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32688" y="3401568"/>
            <a:ext cx="2798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고민 7개로 들어옵니다.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메이크업 카테고리는 없습니다.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2011680"/>
            <a:ext cx="33832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81728" y="2286000"/>
            <a:ext cx="310896" cy="310896"/>
          </a:xfrm>
          <a:prstGeom prst="ellipse">
            <a:avLst/>
          </a:prstGeom>
          <a:solidFill>
            <a:srgbClr val="4A48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81728" y="2743200"/>
            <a:ext cx="2798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성분과 가격을 같은 축에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81728" y="3401568"/>
            <a:ext cx="2798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기기는 작동 방식, 화장품은 성분으로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고민 아래 놓습니다.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2011680"/>
            <a:ext cx="33832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2286000"/>
            <a:ext cx="310896" cy="310896"/>
          </a:xfrm>
          <a:prstGeom prst="ellipse">
            <a:avLst/>
          </a:prstGeom>
          <a:solidFill>
            <a:srgbClr val="4A48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07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30768" y="2743200"/>
            <a:ext cx="2798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순서까지 짜서 준다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30768" y="3401568"/>
            <a:ext cx="2798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아침 5단계·저녁 4단계.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기기는 작동 방식대로 자기 자리에.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38912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F4EFE7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A5A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여기서 더 나온 것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2688" y="4937760"/>
            <a:ext cx="10296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성분 병용 안내 — 레티놀과 산은 나눠 쓰기 (규칙 9개)      ·      다 쓸 때쯤 — 받은 날과 용량으로 재구매 시점      ·      내 화장대 — 갖고 있는 건 살 목록에서 빼기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5A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MARKET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시장은 커졌는데 정보는 규제 대상이 될 만큼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64240" y="4572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B798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148840"/>
            <a:ext cx="2798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A48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48개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32688" y="2834640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식약처 시정명령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3200400"/>
            <a:ext cx="2798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2019년 비의료용 LED 마스크 48개가 효능을 표시했다는 이유로. 정보 비대칭의 규제 당국 확인.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92024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2148840"/>
            <a:ext cx="2798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A48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1.6조원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681728" y="2834640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뷰티 기기 시장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81728" y="3200400"/>
            <a:ext cx="2798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2018년 5,000억 → 2022년 1.6조. 기기가 팔린 만큼 「어떻게 쓰나」의 수요도 커졌습니다.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192024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0768" y="2148840"/>
            <a:ext cx="2798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A48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900만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430768" y="2834640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화해 누적 리뷰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30768" y="3200400"/>
            <a:ext cx="2798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성분 정보 수요는 증명됐습니다. 다만 화해는 정보만 주고 커머스와 끊겨 있습니다.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434840"/>
            <a:ext cx="10881360" cy="1188720"/>
          </a:xfrm>
          <a:prstGeom prst="roundRect">
            <a:avLst>
              <a:gd name="adj" fmla="val 9231"/>
            </a:avLst>
          </a:prstGeom>
          <a:solidFill>
            <a:srgbClr val="FBF4E6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45902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88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직접 검증 — 채워야 하는 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2688" y="4901184"/>
            <a:ext cx="10296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40대+ 여성 N명 인터뷰  ·  「성분 조합을 몰라 실수한 경험」 비율  ·  데모 사용자 테스트 결과 — 2차 자료로 대체할 수 없는 칸입니다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0350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798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출처: 비즈니스플러스 · 화해 · 식약처 2019 보도자료(원문 링크 확인 필요)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5A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MARKET SIZE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시장 규모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64240" y="4572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B798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417320" y="1783080"/>
            <a:ext cx="4297680" cy="4297680"/>
          </a:xfrm>
          <a:prstGeom prst="ellipse">
            <a:avLst/>
          </a:prstGeom>
          <a:solidFill>
            <a:srgbClr val="E7DCC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84832" y="2907792"/>
            <a:ext cx="2962656" cy="2962656"/>
          </a:xfrm>
          <a:prstGeom prst="ellipse">
            <a:avLst/>
          </a:prstGeom>
          <a:solidFill>
            <a:srgbClr val="9AA8B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24912" y="4142232"/>
            <a:ext cx="1682496" cy="1682496"/>
          </a:xfrm>
          <a:prstGeom prst="ellipse">
            <a:avLst/>
          </a:prstGeom>
          <a:solidFill>
            <a:srgbClr val="4A48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19842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TAM  약 25조원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9456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SAM  약 12조원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34640" y="4315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4590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6E9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확인 필요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1965960"/>
            <a:ext cx="521208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1122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A5A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236829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국내 화장품 시장 · 약 25조원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83680" y="26791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USD 18.39B (2025) · 환율 1,400원 가정. 뷰티 기기 1.1조는 이 안의 조각입니다.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3264408"/>
            <a:ext cx="521208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34107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A5A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366674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스킨케어 · 선케어 · 약 12조원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83680" y="3977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제품 유형 중 46.8% — 노화 관리가 일어나는 카테고리입니다.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4562856"/>
            <a:ext cx="5212080" cy="1207008"/>
          </a:xfrm>
          <a:prstGeom prst="roundRect">
            <a:avLst>
              <a:gd name="adj" fmla="val 9091"/>
            </a:avLst>
          </a:prstGeom>
          <a:solidFill>
            <a:srgbClr val="FBF4E6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7091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88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496519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40~50대 여성 × 침투율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83680" y="527608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인구는 KOSIS, 침투율은 비교 사례와 함께 확정합니다. (확인 필요)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798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동심원은 지름으로만 위계를 표시했습니다 — SAM 확정 전 면적 비례는 비율을 지어내는 것과 같습니다.  출처: Expert Market Research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5A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지금 작동하는 앱입니다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64240" y="4572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B798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목업이 아니라 배포된 웹앱입니다. 아래는 저장소에서 센 값입니다.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2480310" cy="1554480"/>
          </a:xfrm>
          <a:prstGeom prst="roundRect">
            <a:avLst>
              <a:gd name="adj" fmla="val 7059"/>
            </a:avLst>
          </a:prstGeom>
          <a:solidFill>
            <a:srgbClr val="F4EFE7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450592"/>
            <a:ext cx="20048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48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 + 23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77824" y="2999232"/>
            <a:ext cx="20048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기기 + 화장품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77824" y="3291840"/>
            <a:ext cx="20048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798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실존 25 · 브랜드 18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40430" y="2286000"/>
            <a:ext cx="2480310" cy="1554480"/>
          </a:xfrm>
          <a:prstGeom prst="roundRect">
            <a:avLst>
              <a:gd name="adj" fmla="val 7059"/>
            </a:avLst>
          </a:prstGeom>
          <a:solidFill>
            <a:srgbClr val="F4EFE7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78174" y="2450592"/>
            <a:ext cx="20048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48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 / 10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678174" y="2999232"/>
            <a:ext cx="20048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기기+화장품 루틴 세트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78174" y="3291840"/>
            <a:ext cx="20048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798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작동 방식대로 기기 자리 배치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40780" y="2286000"/>
            <a:ext cx="2480310" cy="1554480"/>
          </a:xfrm>
          <a:prstGeom prst="roundRect">
            <a:avLst>
              <a:gd name="adj" fmla="val 7059"/>
            </a:avLst>
          </a:prstGeom>
          <a:solidFill>
            <a:srgbClr val="F4EFE7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8524" y="2450592"/>
            <a:ext cx="20048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48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78524" y="2999232"/>
            <a:ext cx="20048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성분 병용 규칙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78524" y="3291840"/>
            <a:ext cx="20048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798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+ 기기 배치 규칙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41130" y="2286000"/>
            <a:ext cx="2480310" cy="1554480"/>
          </a:xfrm>
          <a:prstGeom prst="roundRect">
            <a:avLst>
              <a:gd name="adj" fmla="val 7059"/>
            </a:avLst>
          </a:prstGeom>
          <a:solidFill>
            <a:srgbClr val="F4EFE7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78874" y="2450592"/>
            <a:ext cx="20048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48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28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278874" y="2999232"/>
            <a:ext cx="20048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278874" y="3291840"/>
            <a:ext cx="20048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798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커밋 43 · 12,560줄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023360"/>
            <a:ext cx="52578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2062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닫힌 여정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14400" y="45720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노화 고민 → 루틴 처방(기기 자리 포함) → 담기 → 결제 → 배송 추적 → 리뷰 → 재구매까지 끊기는 곳 없이 이어집니다.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63640" y="4023360"/>
            <a:ext cx="52578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42062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규제선을 지킨 카피 체계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537960" y="45720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미백·주름개선은 기능성화장품 표시라 심사 품목만 씁니다. 성분은 「어디서 작용한다」로만 적고, 기기에는 효능을 붙이지 않습니다.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58064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A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데모: rivea-app.web.app — PWA로 홈 화면 설치 가능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5A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중개 수수료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64240" y="4572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B798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194560"/>
            <a:ext cx="4672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수익 구조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2697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5A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판매 수수료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606040" y="2697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브랜드별 협의 (% 확인 필요)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32688" y="3264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5A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루틴 세트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606040" y="32644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여러 브랜드 묶음 판매 · 객단가 상승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32688" y="38313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5A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브랜드 노출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606040" y="383133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고민별 큐레이션 슬롯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32688" y="4590288"/>
            <a:ext cx="4672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B798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배송비는 브랜드가 각자 정합니다 — 앱도 브랜드별로 계산합니다.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32688" y="5074920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단가 · 수수료율 · CAC · LTV 가정표 (확인 필요)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96596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F4EFE7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6248" y="2194560"/>
            <a:ext cx="4672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우리가 하지 않는 것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56248" y="2651760"/>
            <a:ext cx="467258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루틴의 월 비용 환산과 효과 기록은 사용자에게 유용하지만 넣지 않았습니다. 입점 브랜드에게는 위험한 지표이고, 브랜드가 들어오지 않으면 중개형 자체가 성립하지 않습니다.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대신 「내 화장대」는 넣었습니다. 결과적으로 살 것이 줄지만 브랜드에게는 「안 팔았다」가 아니라 「중복 구매를 막아줬다」로 읽힙니다.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양쪽이 다 이기는 칸에만 손을 댑니다.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5A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MARKET ADOPTION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어떻게 쓰게 만드나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64240" y="4572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B798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10896" cy="310896"/>
          </a:xfrm>
          <a:prstGeom prst="ellipse">
            <a:avLst/>
          </a:prstGeom>
          <a:solidFill>
            <a:srgbClr val="4A48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57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노화 고민으로 들어온다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35000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「세럼」이 아니라 「기미·잡티」로. 그 화면에 기기와 화장품이 함께 놓입니다.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310896" cy="310896"/>
          </a:xfrm>
          <a:prstGeom prst="ellipse">
            <a:avLst/>
          </a:prstGeom>
          <a:solidFill>
            <a:srgbClr val="4A48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17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926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루틴을 받는다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331012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고민 3개 → 아침·저녁 순서. 여기서 처음으로 「이 앱이 나를 안다」가 생깁니다.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310896" cy="310896"/>
          </a:xfrm>
          <a:prstGeom prst="ellipse">
            <a:avLst/>
          </a:prstGeom>
          <a:solidFill>
            <a:srgbClr val="4A48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977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886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화장대를 등록한다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4270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살 것이 줄어듭니다. 덜 팔린 첫 경험이 재방문의 이유가 됩니다.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937760"/>
            <a:ext cx="310896" cy="310896"/>
          </a:xfrm>
          <a:prstGeom prst="ellipse">
            <a:avLst/>
          </a:prstGeom>
          <a:solidFill>
            <a:srgbClr val="4A48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937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4846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 쓸 때쯤 돌아온다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52303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리텐션이 광고가 아니라 제품 사용 주기에서 나옵니다.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5852160"/>
            <a:ext cx="10881360" cy="548640"/>
          </a:xfrm>
          <a:prstGeom prst="roundRect">
            <a:avLst>
              <a:gd name="adj" fmla="val 20000"/>
            </a:avLst>
          </a:prstGeom>
          <a:solidFill>
            <a:srgbClr val="FBF4E6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9893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8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초기 확보 채널 · 예산 · 목표 지표 (확인 필요)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5A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COMPETITION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경쟁 구도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64240" y="4572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B798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비교 축은 우리가 정의한 세 문제 그대로입니다 — 노화 중심 / 통합 비교 / 루틴.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108813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645920"/>
                <a:gridCol w="1280160"/>
                <a:gridCol w="1737360"/>
                <a:gridCol w="1645920"/>
                <a:gridCol w="19202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B798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구분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B798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노화 중심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B798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진열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B798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기기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B798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취급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B798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기기·화장품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B798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통합 비교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B798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루틴으로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B798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묶기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B798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40대+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B798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접근성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42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RIVEA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6242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●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6242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●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6242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◐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6242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●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6242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●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6546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올리브영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6546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6546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●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6546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6546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6546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△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6546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화해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6546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△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6546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6546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6546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6546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△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6546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브랜드 공식몰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6546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△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6546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△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6546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6546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6546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△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6546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지그재그 · 에이블리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6546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6546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△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6546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6546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6546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6546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기기 전문몰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6546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△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6546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●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6546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6546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6546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△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029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798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● 있음 · ◐ 부분 구현 · △ 부분적 · ○ 없음    ◐ 기기끼리 비교표는 돌아가고, 기기↔화장품 교차 비교가 다음 단계입니다.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5394960"/>
            <a:ext cx="10881360" cy="1005840"/>
          </a:xfrm>
          <a:prstGeom prst="roundRect">
            <a:avLst>
              <a:gd name="adj" fmla="val 10909"/>
            </a:avLst>
          </a:prstGeom>
          <a:solidFill>
            <a:srgbClr val="F4EFE7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55321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「통합 비교」와 「루틴」 열이 전부 비어 있는 이유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583387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능력이 아니라 구조입니다. 브랜드몰은 남의 제품과의 조합을 말할 수 없고, 종합몰은 「기기 하나로 되니 화장품은 줄이세요」를 말할 이유가 없습니다.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5A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COMPETITIVE ADVANTAGES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우리가 할 수 있나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64240" y="4572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B798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286000"/>
            <a:ext cx="310896" cy="310896"/>
          </a:xfrm>
          <a:prstGeom prst="ellipse">
            <a:avLst/>
          </a:prstGeom>
          <a:solidFill>
            <a:srgbClr val="4A48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16736" y="2313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A5A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기기와 화장품을 다 파니 묶을 수 있다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중개형이라 한 바구니에 여러 브랜드의 기기와 화장품이 함께 담깁니다. 흉내가 아니라 사업 모델에서 나옵니다.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9120" y="201168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286000"/>
            <a:ext cx="310896" cy="310896"/>
          </a:xfrm>
          <a:prstGeom prst="ellipse">
            <a:avLst/>
          </a:prstGeom>
          <a:solidFill>
            <a:srgbClr val="4A48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65776" y="2313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A5A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27889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이기는 브랜드가 없어도 된다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63440" y="36576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특정 브랜드를 밀 이유가 없어 중립적인 안내가 곧 우리 이익입니다. 브랜드몰은 구조적으로 이 말을 못 합니다.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38160" y="201168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2286000"/>
            <a:ext cx="310896" cy="310896"/>
          </a:xfrm>
          <a:prstGeom prst="ellipse">
            <a:avLst/>
          </a:prstGeom>
          <a:solidFill>
            <a:srgbClr val="4A48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14816" y="2313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A5A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규율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0" y="27889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표현의 선을 지킨 체계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12480" y="36576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기능성화장품·기기 효능 표시를 피하는 규칙이 코드에 박혀 있습니다. 모르고 만든 서비스는 규모가 커질 때 한 번에 걸립니다.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4892040"/>
            <a:ext cx="10881360" cy="1097280"/>
          </a:xfrm>
          <a:prstGeom prst="roundRect">
            <a:avLst>
              <a:gd name="adj" fmla="val 10000"/>
            </a:avLst>
          </a:prstGeom>
          <a:solidFill>
            <a:srgbClr val="F4EFE7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04748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규칙 엔진이 자산이 되는 구조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536752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성분 · 기기 작동 방식 · 단계 · 시간대 · 사용기간을 구조화해 갖고 있어, 상품이 늘어날수록 규칙이 잡아내는 조합이 늘어납니다. 카탈로그 확장이 곧 안내 품질의 확장입니다.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5A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64240" y="4572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B798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1인입니다. 숨기지 않고, 혼자 어디까지 왔는지와 누구를 뽑을지를 같이 놓습니다.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48463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423160"/>
            <a:ext cx="1005840" cy="1005840"/>
          </a:xfrm>
          <a:prstGeom prst="ellipse">
            <a:avLst/>
          </a:prstGeom>
          <a:solidFill>
            <a:srgbClr val="E6E9F0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611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A5A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FOUNDER · 1인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9136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8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이름 (채워주세요)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437083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기획 · 디자인 · 개발을 혼자 했습니다.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커밋 43개 · 12,560줄 · 배포된 웹앱.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05840" y="5120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B798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「이 문제를 왜 내가 푸는지」 한 문장을 여기 넣으세요 — 1인 팀에서 이 문장이 팀 슬라이드 전체를 대신합니다.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2103120"/>
            <a:ext cx="5669280" cy="1600200"/>
          </a:xfrm>
          <a:prstGeom prst="roundRect">
            <a:avLst>
              <a:gd name="adj" fmla="val 6857"/>
            </a:avLst>
          </a:prstGeom>
          <a:solidFill>
            <a:srgbClr val="F4EFE7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44768" y="2286000"/>
            <a:ext cx="5084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1인이 약점이 아닌 이유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44768" y="2633472"/>
            <a:ext cx="5084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초기 팀의 가장 큰 위험은 사람이 적은 게 아니라 만든 게 없는 것입니다. 기획부터 배포까지 한 사람 안에서 돌았기 때문에 의사결정에 전달 손실이 없고, 지금 바로 열리는 링크가 그 증거입니다.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886200"/>
            <a:ext cx="56692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7DC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4069080"/>
            <a:ext cx="5084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투자금으로 채울 자리 (18개월)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44768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A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 브랜드 입점 · MD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58200" y="4434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카탈로그를 늘리는 사람. 규칙 엔진은 상품이 늘수록 강해집니다.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44768" y="5001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A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 프론트엔드 개발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58200" y="50017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제가 제품 방향에 시간을 쓸 수 있게 되는 자리.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A48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3840480"/>
            <a:ext cx="5486400" cy="5486400"/>
          </a:xfrm>
          <a:prstGeom prst="ellipse">
            <a:avLst/>
          </a:prstGeom>
          <a:solidFill>
            <a:srgbClr val="5C5B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DCC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3.5억원 · 18개월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6E9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18개월은 「만들 시간」이 아니라 재구매율이 나오는 데 걸리는 시간입니다 — 화장품 한 통이 두 달이라 최소 2~3회전이 필요합니다.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48640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286000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A5A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인건비 2인 · 18개월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0" y="26517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2.0억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66360" y="26517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B798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58%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브랜드 입점 · 상품 데이터 구축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06240" y="3108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0.4억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66360" y="31089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B798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초기 유저 확보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06240" y="3566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0.5억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66360" y="3566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B798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14%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32688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서버 · 법률 · 회계 · 툴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06240" y="4023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0.2억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66360" y="40233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B798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4480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예비비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06240" y="4480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0.4억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66360" y="44805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B798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2688" y="4983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합계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206240" y="495604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4A5A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3.5억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92240" y="2103120"/>
            <a:ext cx="502920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84848" y="2286000"/>
            <a:ext cx="4443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A5A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돈으로 검증할 가설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84848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798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6개월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26680" y="26791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브랜드가 들어오는가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726680" y="29900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입점 20개 · 상품 300개. 통합 비교가 성립할 최소 밀도.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84848" y="3566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798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12개월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26680" y="35478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루틴이 구매로 이어지는가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726680" y="38587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루틴 → 담기 전환율. 이 앱의 존재 이유가 여기서 증명됩니다.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84848" y="4434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798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18개월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26680" y="44165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4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다시 사는가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726680" y="47274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6546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재구매율. 리텐션이 광고가 아니라 사용 주기에서 나오는지.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산출 근거: 개발 1인 4,500만 + MD 1인 4,000만 + 대표 최소급여 3,000만 · 18개월 · 4대보험·퇴직 포함(×1.2). 정부지원(예비창업패키지·TIPS)을 병행하면 같은 지분으로 런웨이를 늘릴 수 있습니다.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6080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DCC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rivea-app.web.app — 회원가입 없이 둘러보기, 고민 설정 후 「내 루틴」까지    ·    초안 2026.08 · 금색 글씨는 채워야 할 자리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RIVEA IR Deck (초안)</dc:title>
  <dc:subject>PptxGenJS Presentation</dc:subject>
  <dc:creator>RIVEA</dc:creator>
  <cp:lastModifiedBy>RIVEA</cp:lastModifiedBy>
  <cp:revision>1</cp:revision>
  <dcterms:created xsi:type="dcterms:W3CDTF">2026-08-03T14:56:17Z</dcterms:created>
  <dcterms:modified xsi:type="dcterms:W3CDTF">2026-08-03T14:56:17Z</dcterms:modified>
</cp:coreProperties>
</file>